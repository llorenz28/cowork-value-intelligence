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2B174D"/>
          </a:solidFill>
          <a:ln w="12700">
            <a:solidFill>
              <a:srgbClr val="2B17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2468880" cy="292608"/>
          </a:xfrm>
          <a:prstGeom prst="roundRect">
            <a:avLst>
              <a:gd name="adj" fmla="val 25000"/>
            </a:avLst>
          </a:prstGeom>
          <a:solidFill>
            <a:srgbClr val="D83B96"/>
          </a:solidFill>
          <a:ln w="12700">
            <a:solidFill>
              <a:srgbClr val="D83B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2694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VERSION 1.0 • IN TESTING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Cowork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Intelligence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99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E9F7"/>
                </a:solidFill>
              </a:rPr>
              <a:t>Interpretation Storyboard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8444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EE9F7"/>
                </a:solidFill>
              </a:rPr>
              <a:t>A page-by-page guide to adoption, delegated work, modeled value, consumption, and evidence-aware action.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EE0"/>
                </a:solidFill>
              </a:rPr>
              <a:t>Fabricated sample data • @example.com identities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84648" y="1179576"/>
            <a:ext cx="6492240" cy="3931920"/>
          </a:xfrm>
          <a:prstGeom prst="roundRect">
            <a:avLst>
              <a:gd name="adj" fmla="val 1163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10" name="Image 0" descr="Report screenshot: 02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225296"/>
            <a:ext cx="6400800" cy="3840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30368" y="512978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5230368" y="5440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signals. Transparent assumptions. Defensible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same four-question reading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before action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7F5FA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530352" cy="530352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1790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1408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2D83"/>
                </a:solidFill>
              </a:rPr>
              <a:t>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36192" y="18105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033"/>
                </a:solidFill>
              </a:rPr>
              <a:t>Start with the business decision the page is designed to support.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EF5FC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389888"/>
            <a:ext cx="530352" cy="53035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1790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05472" y="1408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READ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05472" y="18105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033"/>
                </a:solidFill>
              </a:rPr>
              <a:t>Confirm the filters, reporting period, source status, and metric grain.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7F5FA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13048"/>
            <a:ext cx="530352" cy="530352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410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36192" y="3831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</a:rPr>
              <a:t>INTERPRET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36192" y="4233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033"/>
                </a:solidFill>
              </a:rPr>
              <a:t>Separate observed evidence from modeled or allocated values.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EF5FC"/>
          </a:solidFill>
          <a:ln w="15240">
            <a:solidFill>
              <a:srgbClr val="D8C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813048"/>
            <a:ext cx="530352" cy="530352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941064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05472" y="3831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272"/>
                </a:solidFill>
              </a:rPr>
              <a:t>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4233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033"/>
                </a:solidFill>
              </a:rPr>
              <a:t>Corroborate the source record and document the owner before acting.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evidence requires different wording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ladder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108356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20700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755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OBSERVED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14600" y="1152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Direct source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152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The connected export contains…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1975104"/>
            <a:ext cx="10835640" cy="749808"/>
          </a:xfrm>
          <a:prstGeom prst="roundRect">
            <a:avLst>
              <a:gd name="adj" fmla="val 609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19456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26314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DERIVED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14600" y="21396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Arithmetic over observed fields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1396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The report calculates…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2962656"/>
            <a:ext cx="108356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18211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2506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3127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Observed activity plus assumptions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3127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Under the selected assumptions…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3950208"/>
            <a:ext cx="10835640" cy="749808"/>
          </a:xfrm>
          <a:prstGeom prst="roundRect">
            <a:avLst>
              <a:gd name="adj" fmla="val 609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169664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23824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ALLOCATED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14600" y="41148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A total distributed without source metering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The modeled allocation suggests…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937760"/>
            <a:ext cx="108356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515721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22579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UNAVAILABLE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14600" y="51023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A required dependency is absent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97880" y="51023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This cannot be calculated yet.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source contracts, one evidence chain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Customer-owned inputs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801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7F5FA"/>
          </a:solidFill>
          <a:ln w="19050">
            <a:solidFill>
              <a:srgbClr val="4B2D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645920"/>
            <a:ext cx="822960" cy="822960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697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74D"/>
                </a:solidFill>
              </a:rPr>
              <a:t>Purview audit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033"/>
                </a:solidFill>
              </a:rPr>
              <a:t>Threads, timestamps, skills, resources, optional model attribution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93008" y="12801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EEF5FC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645920"/>
            <a:ext cx="822960" cy="8229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21608" y="2697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74D"/>
                </a:solidFill>
              </a:rPr>
              <a:t>Cowork usage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1608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033"/>
                </a:solidFill>
              </a:rPr>
              <a:t>Reported tasks, scheduled split, active days, reconciliation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7648" y="12801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7F5FA"/>
          </a:solidFill>
          <a:ln w="19050">
            <a:solidFill>
              <a:srgbClr val="0082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645920"/>
            <a:ext cx="822960" cy="822960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6248" y="2697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74D"/>
                </a:solidFill>
              </a:rPr>
              <a:t>Organization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6248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033"/>
                </a:solidFill>
              </a:rPr>
              <a:t>Department, business unit, manager, role, geography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62288" y="128016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EEF5FC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1645920"/>
            <a:ext cx="822960" cy="82296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0888" y="26974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74D"/>
                </a:solidFill>
              </a:rPr>
              <a:t>Consumption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90888" y="3246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02033"/>
                </a:solidFill>
              </a:rPr>
              <a:t>Credit allowance, credits used, sessions, and recency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88720" y="50749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3B01"/>
                </a:solidFill>
              </a:rPr>
              <a:t>The usage export is aggregate evidence. It must never manufacture an event timeline.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Here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1-start-h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Route each business question to the page with the right evidence.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Choose the decision first: adoption, audience, cost, ROI, work mix, or next action.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page can be useful even when optional billing or organization inputs are absent.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Open one path and verify its data-status notes before quoting a number.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2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Summarize adoption, delegated work, modeled value, cost, and work mix.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observed users and tasks before scenario-based value and ROI.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favorable ROI is conditional on labor rate, billing model, and credit price.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Confirm reconciliation and Finance-approved inputs before sharing the headline.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&amp;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3-activity-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Show which skills and departments contribute to modeled value.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Skill invocations are observed; hours and dollars combine activity with assumptions.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High volume shows embedded workflows; high value reflects the selected time-saving assumptions.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Validate organization mappings and compare low, mid, and high labor-rate scenarios.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4-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Explain what Cowork did by skill, category, and value tier.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Skill activity and category value use different grains; do not sum repeated category value across skills.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broader skill mix can signal workflow maturity, but unmapped tools need review.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Review unmapped skills first, then use category and tier views for rollups.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Far They Delegate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5-how-far-they-dele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Describe task depth, elapsed duration, steps, and skill chaining.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Duration is first-to-last audit event time, not measured human attention.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Longer or multi-skill threads can show complex delegation or process friction.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Sample the underlying thread and confirm business purpose before calling it autonomous.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vs Cost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6-value-vs-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Compare modeled value with customer-priced observed consumption.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Value is modeled; credits are observed; cost and ROI require selected contract inputs.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Position above the diagonal is favorable only under the current assumptions.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Re-run with Finance-approved terms and inspect user-level outliers.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&amp; Value Calculator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7-methodology-value-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Make the value formula and every adjustable input visible.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Observed tasks × typical minutes ÷ 60 × labor rate produces baseline value.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The low-to-high range is assumption sensitivity, not statistical confidence.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Export the assumptions, period, filters, and formula with every value result.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Consumption &amp; Forecast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8-consumption-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Estimate month-end credit consumption and commitment fit.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The projection is a straight line from observed credits and elapsed days.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positive gap suggests overage; a negative gap suggests under-utilization.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Check freshness and seasonality before changing a commitment.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Showback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09-bu-show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Attribute consumption and modeled value to business units.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Organization comes from the customer export; allocated cost follows the selected policy.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Allocation is not invoice metering and should not be treated as a chargeback by default.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Confirm cost-center ownership and allocation policy with Finance.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by User Tier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10-value-by-user-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Show how concentrated tasks and modeled value are across users.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Percentile tiers require at least 20 users; the synthetic sample supports the split.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Concentration can identify champions, dependency, or uneven enablement.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Pair tiers with business unit and work category before targeting action.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Right-Sizing &amp; Reclaim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11-right-sizing-re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Identify utilization, recency, and budget exceptions.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Near-limit and over-limit use observed consumption; reclaim dollars need license price.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Low activity is a follow-up signal, not an automatic removal decision.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52360" y="5102352"/>
            <a:ext cx="4224528" cy="292608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5170932"/>
            <a:ext cx="4133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EXPECTED BLANK • LICENSE PRICE REQUIRED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Confirm role, leave, seasonality, and license terms before changing access.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&amp; LLM Breakdown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12-model-llm-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Show source-attributed model activity and modeled efficiency by category.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Model labels are observed; current cost and credits are allocated estimates.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The page cannot yet prove that one model is cheaper without model-specific metering.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Add compatible per-model credit and duration evidence before recommending a model.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01000" y="374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of 13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47120" cy="0"/>
          </a:xfrm>
          <a:prstGeom prst="line">
            <a:avLst/>
          </a:prstGeom>
          <a:noFill/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905256"/>
            <a:ext cx="6995160" cy="4233672"/>
          </a:xfrm>
          <a:prstGeom prst="roundRect">
            <a:avLst>
              <a:gd name="adj" fmla="val 1080"/>
            </a:avLst>
          </a:prstGeom>
          <a:solidFill>
            <a:srgbClr val="F0EBF7"/>
          </a:solidFill>
          <a:ln w="15240">
            <a:solidFill>
              <a:srgbClr val="7551A8"/>
            </a:solidFill>
            <a:prstDash val="solid"/>
          </a:ln>
        </p:spPr>
      </p:sp>
      <p:pic>
        <p:nvPicPr>
          <p:cNvPr id="6" name="Image 0" descr="Report screenshot: 13-gloss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950976"/>
            <a:ext cx="6903720" cy="4142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5157216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Actual Power BI capture • deterministic synthetic data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457200" y="95097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072" y="1069848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11384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69264" y="108813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03504" y="1453896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Define each metric and disclose its ownership and availability.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585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3774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460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" y="239572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03504" y="2761488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Use the definition and data status together; unavailable does not mean zero.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" y="36850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3753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" y="3703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INTERPRET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03504" y="4069080"/>
            <a:ext cx="3730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Modeled and allocated metrics need their assumptions when shared.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5413248"/>
            <a:ext cx="1121968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" y="5596128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56647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" y="55686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ACTION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1737360" y="5550408"/>
            <a:ext cx="9774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02033"/>
                </a:solidFill>
              </a:rPr>
              <a:t>Copy the definition, period, filters, and confidence label into decision records.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 | 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 Value Intelligence - Interpretation Storyboard</dc:title>
  <dc:subject>Cowork Value Intelligence interpretation storyboard</dc:subject>
  <dc:creator>Microsoft Scout</dc:creator>
  <cp:lastModifiedBy>Microsoft Scout</cp:lastModifiedBy>
  <cp:revision>1</cp:revision>
  <dcterms:created xsi:type="dcterms:W3CDTF">2026-09-07T15:33:25Z</dcterms:created>
  <dcterms:modified xsi:type="dcterms:W3CDTF">2026-09-07T15:33:25Z</dcterms:modified>
</cp:coreProperties>
</file>
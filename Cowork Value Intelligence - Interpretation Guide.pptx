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2B174D"/>
          </a:solidFill>
          <a:ln w="12700">
            <a:solidFill>
              <a:srgbClr val="2B17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58368"/>
            <a:ext cx="2788920" cy="292608"/>
          </a:xfrm>
          <a:prstGeom prst="roundRect">
            <a:avLst>
              <a:gd name="adj" fmla="val 25000"/>
            </a:avLst>
          </a:prstGeom>
          <a:solidFill>
            <a:srgbClr val="D83B96"/>
          </a:solidFill>
          <a:ln w="12700">
            <a:solidFill>
              <a:srgbClr val="D83B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26948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 TESTING | INTERPRETATION GUIDE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Cowork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Intelligence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3401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EE9F7"/>
                </a:solidFill>
              </a:rPr>
              <a:t>A detailed operating guide for observed work, modeled value, consumption, allocation, and defensible action.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BEE0"/>
                </a:solidFill>
              </a:rPr>
              <a:t>Fabricated sample data | @example.com identities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56632" y="1188720"/>
            <a:ext cx="6629400" cy="3767328"/>
          </a:xfrm>
          <a:prstGeom prst="roundRect">
            <a:avLst>
              <a:gd name="adj" fmla="val 1214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9" name="Image 0" descr="C:\Users\luzlorenz\OneDrive - Microsoft\Documents\Microsoft Scout\cowork-value-intelligence\images\report-pages\02-executive-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2352" y="1234440"/>
            <a:ext cx="6537960" cy="36758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02352" y="4974336"/>
            <a:ext cx="6537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Current Cowork Value executive summary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5102352" y="5321808"/>
            <a:ext cx="6537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source evidence to an owned decision.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38160" y="393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Orientation, page walkthroughs, methodology, and operating boundaries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21792" y="123444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7F5FA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545336"/>
            <a:ext cx="566928" cy="566928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69164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45920" y="1527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D83"/>
                </a:solidFill>
              </a:rPr>
              <a:t>Orient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94767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033"/>
                </a:solidFill>
              </a:rPr>
              <a:t>Choose the decision and the evidence path before reading a KPI.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2784" y="123444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EEF5FC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28816" y="1545336"/>
            <a:ext cx="566928" cy="56692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169164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96912" y="1527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</a:rPr>
              <a:t>Read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96912" y="194767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033"/>
                </a:solidFill>
              </a:rPr>
              <a:t>Use the same five-layer page walkthrough for every view.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" y="34747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7F5FA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" y="3785616"/>
            <a:ext cx="566928" cy="566928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393192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45920" y="37673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3B01"/>
                </a:solidFill>
              </a:rPr>
              <a:t>Challenge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418795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033"/>
                </a:solidFill>
              </a:rPr>
              <a:t>Inspect assumptions, allocation rules, and missing dependencies.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72784" y="34747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EEF5FC"/>
          </a:solidFill>
          <a:ln w="13970">
            <a:solidFill>
              <a:srgbClr val="D8C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28816" y="3785616"/>
            <a:ext cx="566928" cy="566928"/>
          </a:xfrm>
          <a:prstGeom prst="ellipse">
            <a:avLst/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8816" y="393192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96912" y="37673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272"/>
                </a:solidFill>
              </a:rPr>
              <a:t>Act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96912" y="418795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033"/>
                </a:solidFill>
              </a:rPr>
              <a:t>End with an owner, source check, guardrail, and next step.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guide adds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38160" y="393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report exposes its evidence, assumptions, and interpretation boundaries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97864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6644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78992" y="1216152"/>
            <a:ext cx="2798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FRIENDLY SKILL LABELS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13232" y="1536192"/>
            <a:ext cx="31638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Curated names appear where known; technical identifiers fall back to readable labels without changing classification.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1078992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7992" y="1197864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26644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901184" y="1216152"/>
            <a:ext cx="2798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VALUE SCOPE CONTROL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4535424" y="1536192"/>
            <a:ext cx="31638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Verified-only and broader representative scenarios keep uncertain action mappings visible instead of silently valuing them.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11312" y="1078992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0184" y="1197864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126644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723376" y="1216152"/>
            <a:ext cx="2798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TRANSPARENT ASSUMPTIONS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8357616" y="1536192"/>
            <a:ext cx="31638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Category minutes, labor rate, billing mode, price inputs, and quality adjustments remain visible and challengeable.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" y="3364992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EEF5FC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483864"/>
            <a:ext cx="310896" cy="310896"/>
          </a:xfrm>
          <a:prstGeom prst="ellipse">
            <a:avLst/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55244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78992" y="3502152"/>
            <a:ext cx="2798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8272"/>
                </a:solidFill>
              </a:rPr>
              <a:t>ALLOCATION BOUNDARIES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713232" y="3822192"/>
            <a:ext cx="31638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Per-skill, department, and model costs are directional allocations unless the source supplies matching metering.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89120" y="3364992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EEF5FC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7992" y="3483864"/>
            <a:ext cx="310896" cy="310896"/>
          </a:xfrm>
          <a:prstGeom prst="ellipse">
            <a:avLst/>
          </a:prstGeom>
          <a:solidFill>
            <a:srgbClr val="7551A8"/>
          </a:solidFill>
          <a:ln w="12700">
            <a:solidFill>
              <a:srgbClr val="7551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07992" y="355244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901184" y="3502152"/>
            <a:ext cx="2798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7551A8"/>
                </a:solidFill>
              </a:rPr>
              <a:t>POPULATION GATES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4535424" y="3822192"/>
            <a:ext cx="31638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User tiers and related comparisons stay unavailable until the filtered population supports the method.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11312" y="3364992"/>
            <a:ext cx="3456432" cy="1874520"/>
          </a:xfrm>
          <a:prstGeom prst="roundRect">
            <a:avLst>
              <a:gd name="adj" fmla="val 3902"/>
            </a:avLst>
          </a:prstGeom>
          <a:solidFill>
            <a:srgbClr val="EEF5FC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0184" y="3483864"/>
            <a:ext cx="310896" cy="310896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0184" y="355244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723376" y="3502152"/>
            <a:ext cx="2798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07C10"/>
                </a:solidFill>
              </a:rPr>
              <a:t>DECISION LANGUAGE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8357616" y="3822192"/>
            <a:ext cx="31638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Every view pairs a next action with wording that stays inside the evidence the report actually contains.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Five-minute orientation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38160" y="393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time is limited, read these four pages in order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77240" y="1097280"/>
            <a:ext cx="10652760" cy="960120"/>
          </a:xfrm>
          <a:prstGeom prst="roundRect">
            <a:avLst>
              <a:gd name="adj" fmla="val 7619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1280160"/>
            <a:ext cx="566928" cy="566928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42646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47088" y="128930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2D83"/>
                </a:solidFill>
              </a:rPr>
              <a:t>Start Here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128016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033"/>
                </a:solidFill>
              </a:rPr>
              <a:t>Choose the decision path and confirm required inputs.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10652760" cy="960120"/>
          </a:xfrm>
          <a:prstGeom prst="roundRect">
            <a:avLst>
              <a:gd name="adj" fmla="val 7619"/>
            </a:avLst>
          </a:prstGeom>
          <a:solidFill>
            <a:srgbClr val="EEF5FC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514600"/>
            <a:ext cx="566928" cy="56692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66090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47088" y="252374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8D4"/>
                </a:solidFill>
              </a:rPr>
              <a:t>Executive Summary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251460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033"/>
                </a:solidFill>
              </a:rPr>
              <a:t>Read observed activity before modeled value and cost.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566160"/>
            <a:ext cx="10652760" cy="960120"/>
          </a:xfrm>
          <a:prstGeom prst="roundRect">
            <a:avLst>
              <a:gd name="adj" fmla="val 7619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3749040"/>
            <a:ext cx="566928" cy="566928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89534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47088" y="375818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3B01"/>
                </a:solidFill>
              </a:rPr>
              <a:t>Methodology &amp; Value Calculator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374904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033"/>
                </a:solidFill>
              </a:rPr>
              <a:t>Inspect the selected assumptions and sensitivity.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4800600"/>
            <a:ext cx="10652760" cy="960120"/>
          </a:xfrm>
          <a:prstGeom prst="roundRect">
            <a:avLst>
              <a:gd name="adj" fmla="val 7619"/>
            </a:avLst>
          </a:prstGeom>
          <a:solidFill>
            <a:srgbClr val="EEF5FC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983480"/>
            <a:ext cx="566928" cy="566928"/>
          </a:xfrm>
          <a:prstGeom prst="ellipse">
            <a:avLst/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512978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847088" y="499262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272"/>
                </a:solidFill>
              </a:rPr>
              <a:t>Glossary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46320" y="498348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033"/>
                </a:solidFill>
              </a:rPr>
              <a:t>Carry the metric definition and evidence label into the decision.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model at a glance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38160" y="393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activity flows through derived facts; optional inputs add context and cost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30352" y="1097280"/>
            <a:ext cx="2487168" cy="1572768"/>
          </a:xfrm>
          <a:prstGeom prst="roundRect">
            <a:avLst>
              <a:gd name="adj" fmla="val 4651"/>
            </a:avLst>
          </a:prstGeom>
          <a:solidFill>
            <a:srgbClr val="F7F5FA"/>
          </a:solidFill>
          <a:ln w="16510">
            <a:solidFill>
              <a:srgbClr val="4B2D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38988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B2D83"/>
                </a:solidFill>
              </a:rPr>
              <a:t>Purview audit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1847088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033"/>
                </a:solidFill>
              </a:rPr>
              <a:t>Required event evidence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19856" y="1097280"/>
            <a:ext cx="2487168" cy="1572768"/>
          </a:xfrm>
          <a:prstGeom prst="roundRect">
            <a:avLst>
              <a:gd name="adj" fmla="val 4651"/>
            </a:avLst>
          </a:prstGeom>
          <a:solidFill>
            <a:srgbClr val="EEF5FC"/>
          </a:solidFill>
          <a:ln w="1651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4448" y="138988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8D4"/>
                </a:solidFill>
              </a:rPr>
              <a:t>Cowork usage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02736" y="1847088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033"/>
                </a:solidFill>
              </a:rPr>
              <a:t>Optional aggregate reconciliation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097280"/>
            <a:ext cx="2487168" cy="1572768"/>
          </a:xfrm>
          <a:prstGeom prst="roundRect">
            <a:avLst>
              <a:gd name="adj" fmla="val 4651"/>
            </a:avLst>
          </a:prstGeom>
          <a:solidFill>
            <a:srgbClr val="F7F5FA"/>
          </a:solidFill>
          <a:ln w="16510">
            <a:solidFill>
              <a:srgbClr val="0082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38988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8272"/>
                </a:solidFill>
              </a:rPr>
              <a:t>Organization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1847088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033"/>
                </a:solidFill>
              </a:rPr>
              <a:t>Optional department and business unit context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98864" y="1097280"/>
            <a:ext cx="2487168" cy="1572768"/>
          </a:xfrm>
          <a:prstGeom prst="roundRect">
            <a:avLst>
              <a:gd name="adj" fmla="val 4651"/>
            </a:avLst>
          </a:prstGeom>
          <a:solidFill>
            <a:srgbClr val="EEF5FC"/>
          </a:solidFill>
          <a:ln w="16510">
            <a:solidFill>
              <a:srgbClr val="D83B0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63456" y="138988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3B01"/>
                </a:solidFill>
              </a:rPr>
              <a:t>Consumption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81744" y="1847088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033"/>
                </a:solidFill>
              </a:rPr>
              <a:t>Optional observed credits and recency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182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74D"/>
                </a:solidFill>
              </a:rPr>
              <a:t>Source evidence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651760" y="3063240"/>
            <a:ext cx="914400" cy="548640"/>
          </a:xfrm>
          <a:prstGeom prst="chevron">
            <a:avLst/>
          </a:prstGeom>
          <a:solidFill>
            <a:srgbClr val="7551A8"/>
          </a:solidFill>
          <a:ln w="12700">
            <a:solidFill>
              <a:srgbClr val="7551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0632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033"/>
                </a:solidFill>
              </a:rPr>
              <a:t>Derived task, user, category, recency, and reconciliation facts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818120" y="3063240"/>
            <a:ext cx="914400" cy="548640"/>
          </a:xfrm>
          <a:prstGeom prst="chevron">
            <a:avLst/>
          </a:prstGeom>
          <a:solidFill>
            <a:srgbClr val="7551A8"/>
          </a:solidFill>
          <a:ln w="12700">
            <a:solidFill>
              <a:srgbClr val="7551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96528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033"/>
                </a:solidFill>
              </a:rPr>
              <a:t>Modeled value and directional allocations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05840" y="4645152"/>
            <a:ext cx="10149840" cy="868680"/>
          </a:xfrm>
          <a:prstGeom prst="roundRect">
            <a:avLst>
              <a:gd name="adj" fmla="val 8421"/>
            </a:avLst>
          </a:prstGeom>
          <a:solidFill>
            <a:srgbClr val="FFF4EC"/>
          </a:solidFill>
          <a:ln w="13970">
            <a:solidFill>
              <a:srgbClr val="A8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" y="4773168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A80000"/>
          </a:solidFill>
          <a:ln w="12700">
            <a:solidFill>
              <a:srgbClr val="A8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9576" y="4841748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BOUNDARY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331720" y="4782312"/>
            <a:ext cx="86685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The usage export is aggregate evidence. It must never manufacture an event timeline or replace missing Purview detail.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 evidence requires different wording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38160" y="393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label that matches the metric's actual evidence condition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58368" y="960120"/>
            <a:ext cx="1083564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18872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25730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OBSERVED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514600" y="11430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033"/>
                </a:solidFill>
              </a:rPr>
              <a:t>Direct source count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97880" y="11430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25B6A"/>
                </a:solidFill>
              </a:rPr>
              <a:t>The connected export contains...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1965960"/>
            <a:ext cx="10835640" cy="768096"/>
          </a:xfrm>
          <a:prstGeom prst="roundRect">
            <a:avLst>
              <a:gd name="adj" fmla="val 5952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219456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26314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DERIVED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14600" y="21488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033"/>
                </a:solidFill>
              </a:rPr>
              <a:t>Arithmetic over observed fields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21488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25B6A"/>
                </a:solidFill>
              </a:rPr>
              <a:t>The report calculates...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2971800"/>
            <a:ext cx="1083564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20040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26898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MODELED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14600" y="31546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033"/>
                </a:solidFill>
              </a:rPr>
              <a:t>Observed activity plus assumptions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97880" y="31546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25B6A"/>
                </a:solidFill>
              </a:rPr>
              <a:t>Under the selected assumptions...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" y="3977640"/>
            <a:ext cx="10835640" cy="768096"/>
          </a:xfrm>
          <a:prstGeom prst="roundRect">
            <a:avLst>
              <a:gd name="adj" fmla="val 5952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420624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27482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ALLOCATED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14600" y="41605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033"/>
                </a:solidFill>
              </a:rPr>
              <a:t>A total distributed without source metering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97880" y="4160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25B6A"/>
                </a:solidFill>
              </a:rPr>
              <a:t>The modeled allocation suggests...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" y="4983480"/>
            <a:ext cx="1083564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521208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A80000"/>
          </a:solidFill>
          <a:ln w="12700">
            <a:solidFill>
              <a:srgbClr val="A8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528066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UNAVAILABLE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14600" y="51663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033"/>
                </a:solidFill>
              </a:rPr>
              <a:t>A required dependency is absent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97880" y="51663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25B6A"/>
                </a:solidFill>
              </a:rPr>
              <a:t>This cannot be calculated yet.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7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60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CDEA"/>
                </a:solidFill>
              </a:rPr>
              <a:t>SECTION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481328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Page-by-page walkthrough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58368" y="2578608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EE9F7"/>
                </a:solidFill>
              </a:rPr>
              <a:t>Read every page in five layers: purpose, reading order, diagnostic question, action, and guardrail.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8368" y="4892040"/>
            <a:ext cx="10835640" cy="868680"/>
          </a:xfrm>
          <a:prstGeom prst="roundRect">
            <a:avLst>
              <a:gd name="adj" fmla="val 8421"/>
            </a:avLst>
          </a:prstGeom>
          <a:solidFill>
            <a:srgbClr val="4B2D83"/>
          </a:solidFill>
          <a:ln w="12700">
            <a:solidFill>
              <a:srgbClr val="7551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1846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Observed signals. Transparent assumptions. Defensible decisions.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Here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38160" y="393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of 12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663440" y="886968"/>
            <a:ext cx="7086600" cy="4023360"/>
          </a:xfrm>
          <a:prstGeom prst="roundRect">
            <a:avLst>
              <a:gd name="adj" fmla="val 1136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5" name="Image 0" descr="C:\Users\luzlorenz\OneDrive - Microsoft\Documents\Microsoft Scout\cowork-value-intelligence\images\report-pages\01-start-he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32688"/>
            <a:ext cx="699516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4928616"/>
            <a:ext cx="6995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Current Power BI capture | deterministic fabricated sample data</a:t>
            </a:r>
            <a:endParaRPr lang="en-US" sz="720" dirty="0"/>
          </a:p>
        </p:txBody>
      </p:sp>
      <p:sp>
        <p:nvSpPr>
          <p:cNvPr id="7" name="Shape 4"/>
          <p:cNvSpPr/>
          <p:nvPr/>
        </p:nvSpPr>
        <p:spPr>
          <a:xfrm>
            <a:off x="457200" y="932688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" y="1051560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12014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969264" y="1069848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603504" y="1389888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Route each value, cost, distribution, or setup question to the page with the right evidence.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956816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6072" y="2075688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" y="21442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969264" y="2093976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603504" y="241401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Choose the decision first, then confirm that the required source files and customer inputs are available.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2980944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" y="3099816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" y="31683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69264" y="3118104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DIAGNOSE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603504" y="3438144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Which business question must be answered now, and which page owns that question?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005072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6072" y="4123944"/>
            <a:ext cx="310896" cy="310896"/>
          </a:xfrm>
          <a:prstGeom prst="ellipse">
            <a:avLst/>
          </a:prstGeom>
          <a:solidFill>
            <a:srgbClr val="7551A8"/>
          </a:solidFill>
          <a:ln w="12700">
            <a:solidFill>
              <a:srgbClr val="7551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" y="419252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69264" y="4142232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7551A8"/>
                </a:solidFill>
              </a:rPr>
              <a:t>INTERPRET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603504" y="4462272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A page can still be useful when optional organization or consumption inputs are absent.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EAF8F7"/>
          </a:solidFill>
          <a:ln w="13970">
            <a:solidFill>
              <a:srgbClr val="00827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85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0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783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Open one path and verify its source-status notes before quoting any number.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6172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FFF4EC"/>
          </a:solidFill>
          <a:ln w="13970">
            <a:solidFill>
              <a:srgbClr val="A8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00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A80000"/>
          </a:solidFill>
          <a:ln w="12700">
            <a:solidFill>
              <a:srgbClr val="A8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45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GUARDRAIL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98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Do not treat modeled value, observed credits, allocated cost, and invoice chargeback as interchangeable.</a:t>
            </a:r>
            <a:endParaRPr lang="en-US" sz="920" dirty="0"/>
          </a:p>
        </p:txBody>
      </p:sp>
      <p:sp>
        <p:nvSpPr>
          <p:cNvPr id="35" name="Text 32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38160" y="393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of 12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663440" y="886968"/>
            <a:ext cx="7086600" cy="4023360"/>
          </a:xfrm>
          <a:prstGeom prst="roundRect">
            <a:avLst>
              <a:gd name="adj" fmla="val 1136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5" name="Image 0" descr="C:\Users\luzlorenz\OneDrive - Microsoft\Documents\Microsoft Scout\cowork-value-intelligence\images\report-pages\02-executive-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32688"/>
            <a:ext cx="699516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4928616"/>
            <a:ext cx="6995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Current Power BI capture | deterministic fabricated sample data</a:t>
            </a:r>
            <a:endParaRPr lang="en-US" sz="720" dirty="0"/>
          </a:p>
        </p:txBody>
      </p:sp>
      <p:sp>
        <p:nvSpPr>
          <p:cNvPr id="7" name="Shape 4"/>
          <p:cNvSpPr/>
          <p:nvPr/>
        </p:nvSpPr>
        <p:spPr>
          <a:xfrm>
            <a:off x="457200" y="932688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" y="1051560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12014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969264" y="1069848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603504" y="1389888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Summarize observed activity, modeled value, effective cost, return, and assumption status.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956816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6072" y="2075688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" y="21442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969264" y="2093976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603504" y="241401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Read active users and task volume before modeled hours, value, effective platform cost, and ROI.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2980944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" y="3099816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" y="31683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69264" y="3118104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DIAGNOSE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603504" y="3438144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Are the headline results complete, reconciled, and supported by current customer inputs?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005072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6072" y="4123944"/>
            <a:ext cx="310896" cy="310896"/>
          </a:xfrm>
          <a:prstGeom prst="ellipse">
            <a:avLst/>
          </a:prstGeom>
          <a:solidFill>
            <a:srgbClr val="7551A8"/>
          </a:solidFill>
          <a:ln w="12700">
            <a:solidFill>
              <a:srgbClr val="7551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" y="419252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69264" y="4142232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7551A8"/>
                </a:solidFill>
              </a:rPr>
              <a:t>INTERPRET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603504" y="4462272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A favorable return is conditional on time, labor, billing, and price assumptions.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EAF8F7"/>
          </a:solidFill>
          <a:ln w="13970">
            <a:solidFill>
              <a:srgbClr val="00827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85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0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783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Confirm reconciliation and Finance-approved inputs before sharing the headline.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6172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FFF4EC"/>
          </a:solidFill>
          <a:ln w="13970">
            <a:solidFill>
              <a:srgbClr val="A8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00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A80000"/>
          </a:solidFill>
          <a:ln w="12700">
            <a:solidFill>
              <a:srgbClr val="A8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45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GUARDRAIL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98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Do not present scenario ROI as causality, audited savings, or realized cash return.</a:t>
            </a:r>
            <a:endParaRPr lang="en-US" sz="920" dirty="0"/>
          </a:p>
        </p:txBody>
      </p:sp>
      <p:sp>
        <p:nvSpPr>
          <p:cNvPr id="35" name="Text 32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Categories &amp; Methodology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38160" y="393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of 12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663440" y="886968"/>
            <a:ext cx="7086600" cy="4023360"/>
          </a:xfrm>
          <a:prstGeom prst="roundRect">
            <a:avLst>
              <a:gd name="adj" fmla="val 1136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5" name="Image 0" descr="C:\Users\luzlorenz\OneDrive - Microsoft\Documents\Microsoft Scout\cowork-value-intelligence\images\report-pages\03-task-categories-method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32688"/>
            <a:ext cx="699516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4928616"/>
            <a:ext cx="6995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Current default viewport | scrollable methodology table continues beyond the visible rows</a:t>
            </a:r>
            <a:endParaRPr lang="en-US" sz="720" dirty="0"/>
          </a:p>
        </p:txBody>
      </p:sp>
      <p:sp>
        <p:nvSpPr>
          <p:cNvPr id="7" name="Shape 4"/>
          <p:cNvSpPr/>
          <p:nvPr/>
        </p:nvSpPr>
        <p:spPr>
          <a:xfrm>
            <a:off x="457200" y="932688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" y="1051560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12014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969264" y="1069848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603504" y="1389888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Show observed work by category and the minute benchmarks that produce modeled value.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956816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6072" y="2075688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" y="21442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969264" y="2093976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603504" y="241401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Read task volume, mapping coverage, scheduled share, and the selected low, mid, or high benchmark.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2980944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" y="3099816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" y="31683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69264" y="3118104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DIAGNOSE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603504" y="3438144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Which categories drive the result, and how much is explained by benchmark choice?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005072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6072" y="4123944"/>
            <a:ext cx="310896" cy="310896"/>
          </a:xfrm>
          <a:prstGeom prst="ellipse">
            <a:avLst/>
          </a:prstGeom>
          <a:solidFill>
            <a:srgbClr val="7551A8"/>
          </a:solidFill>
          <a:ln w="12700">
            <a:solidFill>
              <a:srgbClr val="7551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" y="419252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69264" y="4142232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7551A8"/>
                </a:solidFill>
              </a:rPr>
              <a:t>INTERPRET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603504" y="4462272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Minutes saved are published assumptions applied to observed tasks, not measured task duration.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EAF8F7"/>
          </a:solidFill>
          <a:ln w="13970">
            <a:solidFill>
              <a:srgbClr val="00827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85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0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783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Review source citations and the hidden assumptions page before changing a benchmark.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6172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FFF4EC"/>
          </a:solidFill>
          <a:ln w="13970">
            <a:solidFill>
              <a:srgbClr val="A8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00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A80000"/>
          </a:solidFill>
          <a:ln w="12700">
            <a:solidFill>
              <a:srgbClr val="A8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45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GUARDRAIL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98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Do not compare categories without carrying their task count, effort band, and selected estimate basis.</a:t>
            </a:r>
            <a:endParaRPr lang="en-US" sz="920" dirty="0"/>
          </a:p>
        </p:txBody>
      </p:sp>
      <p:sp>
        <p:nvSpPr>
          <p:cNvPr id="35" name="Text 32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 &amp; Value Calculator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38160" y="393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of 12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663440" y="886968"/>
            <a:ext cx="7086600" cy="4023360"/>
          </a:xfrm>
          <a:prstGeom prst="roundRect">
            <a:avLst>
              <a:gd name="adj" fmla="val 1136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5" name="Image 0" descr="C:\Users\luzlorenz\OneDrive - Microsoft\Documents\Microsoft Scout\cowork-value-intelligence\images\report-pages\04-methodology-value-calcul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32688"/>
            <a:ext cx="699516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4928616"/>
            <a:ext cx="6995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Current default viewport | scrollable category table continues beyond the visible rows</a:t>
            </a:r>
            <a:endParaRPr lang="en-US" sz="720" dirty="0"/>
          </a:p>
        </p:txBody>
      </p:sp>
      <p:sp>
        <p:nvSpPr>
          <p:cNvPr id="7" name="Shape 4"/>
          <p:cNvSpPr/>
          <p:nvPr/>
        </p:nvSpPr>
        <p:spPr>
          <a:xfrm>
            <a:off x="457200" y="932688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" y="1051560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12014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969264" y="1069848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603504" y="1389888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Make the value formula, customer inputs, sensitivity range, and selected adjustments visible.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956816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6072" y="2075688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" y="21442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969264" y="2093976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603504" y="241401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Read baseline value, adjusted value, platform cost, and return together with the selected controls.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2980944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" y="3099816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" y="31683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69264" y="3118104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DIAGNOSE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603504" y="3438144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Which input moves the conclusion most, and is that input approved by its business owner?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005072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6072" y="4123944"/>
            <a:ext cx="310896" cy="310896"/>
          </a:xfrm>
          <a:prstGeom prst="ellipse">
            <a:avLst/>
          </a:prstGeom>
          <a:solidFill>
            <a:srgbClr val="7551A8"/>
          </a:solidFill>
          <a:ln w="12700">
            <a:solidFill>
              <a:srgbClr val="7551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" y="419252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69264" y="4142232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7551A8"/>
                </a:solidFill>
              </a:rPr>
              <a:t>INTERPRET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603504" y="4462272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Low, mid, and high outputs are assumption scenarios, not statistical confidence intervals.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EAF8F7"/>
          </a:solidFill>
          <a:ln w="13970">
            <a:solidFill>
              <a:srgbClr val="00827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85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0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783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Record the estimate basis, labor rate, adjustments, billing mode, and price inputs with every result.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6172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FFF4EC"/>
          </a:solidFill>
          <a:ln w="13970">
            <a:solidFill>
              <a:srgbClr val="A8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00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A80000"/>
          </a:solidFill>
          <a:ln w="12700">
            <a:solidFill>
              <a:srgbClr val="A8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45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GUARDRAIL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98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Do not share a dollar result without its period, filters, evidence label, and assumption set.</a:t>
            </a:r>
            <a:endParaRPr lang="en-US" sz="920" dirty="0"/>
          </a:p>
        </p:txBody>
      </p:sp>
      <p:sp>
        <p:nvSpPr>
          <p:cNvPr id="35" name="Text 32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Action Assumptions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38160" y="393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of 12 report pages | hidden operational page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544622" y="886968"/>
            <a:ext cx="3324235" cy="4023360"/>
          </a:xfrm>
          <a:prstGeom prst="roundRect">
            <a:avLst>
              <a:gd name="adj" fmla="val 1375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5" name="Image 0" descr="C:\Users\luzlorenz\OneDrive - Microsoft\Documents\Microsoft Scout\cowork-value-intelligence\images\report-pages\05-action-assump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0342" y="932688"/>
            <a:ext cx="3232795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4928616"/>
            <a:ext cx="6995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Hidden operational page | current 44-action assumption catalog</a:t>
            </a:r>
            <a:endParaRPr lang="en-US" sz="720" dirty="0"/>
          </a:p>
        </p:txBody>
      </p:sp>
      <p:sp>
        <p:nvSpPr>
          <p:cNvPr id="7" name="Shape 4"/>
          <p:cNvSpPr/>
          <p:nvPr/>
        </p:nvSpPr>
        <p:spPr>
          <a:xfrm>
            <a:off x="457200" y="932688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" y="1051560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12014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969264" y="1069848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603504" y="1389888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Maintain the action taxonomy, benchmark minutes, evidence citations, and representative mappings.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956816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6072" y="2075688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" y="21442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969264" y="2093976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603504" y="241401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Review action name, category, effort band, low-mid-high estimates, and source citation as one record.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2980944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" y="3099816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" y="31683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69264" y="3118104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DIAGNOSE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603504" y="3438144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Does each valued action have a defensible category, estimate, source, and mapping confidence?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005072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6072" y="4123944"/>
            <a:ext cx="310896" cy="310896"/>
          </a:xfrm>
          <a:prstGeom prst="ellipse">
            <a:avLst/>
          </a:prstGeom>
          <a:solidFill>
            <a:srgbClr val="7551A8"/>
          </a:solidFill>
          <a:ln w="12700">
            <a:solidFill>
              <a:srgbClr val="7551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" y="419252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69264" y="4142232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7551A8"/>
                </a:solidFill>
              </a:rPr>
              <a:t>INTERPRET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603504" y="4462272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Changes affect modeled hours, value, net value, and ROI across every visible page.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EAF8F7"/>
          </a:solidFill>
          <a:ln w="13970">
            <a:solidFill>
              <a:srgbClr val="00827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85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0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783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Document and approve changes before exporting or presenting affected results.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6172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FFF4EC"/>
          </a:solidFill>
          <a:ln w="13970">
            <a:solidFill>
              <a:srgbClr val="A8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00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A80000"/>
          </a:solidFill>
          <a:ln w="12700">
            <a:solidFill>
              <a:srgbClr val="A8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45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GUARDRAIL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98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Do not assign value to ambiguous or unclassified records merely to increase coverage.</a:t>
            </a:r>
            <a:endParaRPr lang="en-US" sz="920" dirty="0"/>
          </a:p>
        </p:txBody>
      </p:sp>
      <p:sp>
        <p:nvSpPr>
          <p:cNvPr id="35" name="Text 32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Testing | Hidden assumptions page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vs Cost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38160" y="393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of 12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663440" y="886968"/>
            <a:ext cx="7086600" cy="4023360"/>
          </a:xfrm>
          <a:prstGeom prst="roundRect">
            <a:avLst>
              <a:gd name="adj" fmla="val 1136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5" name="Image 0" descr="C:\Users\luzlorenz\OneDrive - Microsoft\Documents\Microsoft Scout\cowork-value-intelligence\images\report-pages\06-value-vs-c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32688"/>
            <a:ext cx="699516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4928616"/>
            <a:ext cx="6995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Current default viewport | scrollable detail and interpretation panels continue in the report</a:t>
            </a:r>
            <a:endParaRPr lang="en-US" sz="720" dirty="0"/>
          </a:p>
        </p:txBody>
      </p:sp>
      <p:sp>
        <p:nvSpPr>
          <p:cNvPr id="7" name="Shape 4"/>
          <p:cNvSpPr/>
          <p:nvPr/>
        </p:nvSpPr>
        <p:spPr>
          <a:xfrm>
            <a:off x="457200" y="932688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" y="1051560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12014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969264" y="1069848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603504" y="1389888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Compare modeled value with customer-priced observed consumption under the selected billing mode.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956816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6072" y="2075688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" y="21442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969264" y="2093976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603504" y="241401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Confirm billing mode and required inputs before adjusted value, effective cost, net value, and ROI.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2980944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" y="3099816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" y="31683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69264" y="3118104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DIAGNOSE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603504" y="3438144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Does the conclusion hold when the cost basis and value assumptions are changed?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005072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6072" y="4123944"/>
            <a:ext cx="310896" cy="310896"/>
          </a:xfrm>
          <a:prstGeom prst="ellipse">
            <a:avLst/>
          </a:prstGeom>
          <a:solidFill>
            <a:srgbClr val="7551A8"/>
          </a:solidFill>
          <a:ln w="12700">
            <a:solidFill>
              <a:srgbClr val="7551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" y="419252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69264" y="4142232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7551A8"/>
                </a:solidFill>
              </a:rPr>
              <a:t>INTERPRET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603504" y="4462272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Positioning is scenario-based; cost is not an invoice unless backed by matching billing records.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EAF8F7"/>
          </a:solidFill>
          <a:ln w="13970">
            <a:solidFill>
              <a:srgbClr val="00827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85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0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783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Re-run with Finance-approved terms and inspect band-level outliers before making a decision.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6172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FFF4EC"/>
          </a:solidFill>
          <a:ln w="13970">
            <a:solidFill>
              <a:srgbClr val="A8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00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A80000"/>
          </a:solidFill>
          <a:ln w="12700">
            <a:solidFill>
              <a:srgbClr val="A8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45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GUARDRAIL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98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Do not infer productivity or causality from a favorable value-to-cost ratio.</a:t>
            </a:r>
            <a:endParaRPr lang="en-US" sz="920" dirty="0"/>
          </a:p>
        </p:txBody>
      </p:sp>
      <p:sp>
        <p:nvSpPr>
          <p:cNvPr id="35" name="Text 32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by Department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38160" y="393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of 12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663440" y="886968"/>
            <a:ext cx="7086600" cy="4023360"/>
          </a:xfrm>
          <a:prstGeom prst="roundRect">
            <a:avLst>
              <a:gd name="adj" fmla="val 1136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5" name="Image 0" descr="C:\Users\luzlorenz\OneDrive - Microsoft\Documents\Microsoft Scout\cowork-value-intelligence\images\report-pages\07-value-by-depart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32688"/>
            <a:ext cx="699516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4928616"/>
            <a:ext cx="6995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Current default viewport | scrollable department table continues beyond the visible rows</a:t>
            </a:r>
            <a:endParaRPr lang="en-US" sz="720" dirty="0"/>
          </a:p>
        </p:txBody>
      </p:sp>
      <p:sp>
        <p:nvSpPr>
          <p:cNvPr id="7" name="Shape 4"/>
          <p:cNvSpPr/>
          <p:nvPr/>
        </p:nvSpPr>
        <p:spPr>
          <a:xfrm>
            <a:off x="457200" y="932688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" y="1051560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12014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969264" y="1069848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603504" y="1389888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Distribute observed tasks, credits, modeled value, and allocated cost across business units.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956816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6072" y="2075688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" y="21442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969264" y="2093976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603504" y="241401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Check organization-match coverage before comparing tasks, value, credits, and cost separately.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2980944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" y="3099816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" y="31683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69264" y="3118104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DIAGNOSE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603504" y="3438144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Are differences driven by work mix, population size, consumption, or incomplete identity matching?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005072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6072" y="4123944"/>
            <a:ext cx="310896" cy="310896"/>
          </a:xfrm>
          <a:prstGeom prst="ellipse">
            <a:avLst/>
          </a:prstGeom>
          <a:solidFill>
            <a:srgbClr val="7551A8"/>
          </a:solidFill>
          <a:ln w="12700">
            <a:solidFill>
              <a:srgbClr val="7551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" y="419252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69264" y="4142232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7551A8"/>
                </a:solidFill>
              </a:rPr>
              <a:t>INTERPRET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603504" y="4462272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Department cost follows the documented allocation rule and is not a ledger charge.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EAF8F7"/>
          </a:solidFill>
          <a:ln w="13970">
            <a:solidFill>
              <a:srgbClr val="00827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85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0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783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Reconcile ownership and identity coverage with the authorized organization-data owner.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6172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FFF4EC"/>
          </a:solidFill>
          <a:ln w="13970">
            <a:solidFill>
              <a:srgbClr val="A8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00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A80000"/>
          </a:solidFill>
          <a:ln w="12700">
            <a:solidFill>
              <a:srgbClr val="A8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45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GUARDRAIL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98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Do not rank departments without population, role, seasonality, and work-category context.</a:t>
            </a:r>
            <a:endParaRPr lang="en-US" sz="920" dirty="0"/>
          </a:p>
        </p:txBody>
      </p:sp>
      <p:sp>
        <p:nvSpPr>
          <p:cNvPr id="35" name="Text 32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by User Tier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38160" y="393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of 12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663440" y="886968"/>
            <a:ext cx="7086600" cy="4023360"/>
          </a:xfrm>
          <a:prstGeom prst="roundRect">
            <a:avLst>
              <a:gd name="adj" fmla="val 1136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5" name="Image 0" descr="C:\Users\luzlorenz\OneDrive - Microsoft\Documents\Microsoft Scout\cowork-value-intelligence\images\report-pages\08-value-by-user-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32688"/>
            <a:ext cx="699516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4928616"/>
            <a:ext cx="6995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Current Power BI capture | deterministic fabricated sample data</a:t>
            </a:r>
            <a:endParaRPr lang="en-US" sz="720" dirty="0"/>
          </a:p>
        </p:txBody>
      </p:sp>
      <p:sp>
        <p:nvSpPr>
          <p:cNvPr id="7" name="Shape 4"/>
          <p:cNvSpPr/>
          <p:nvPr/>
        </p:nvSpPr>
        <p:spPr>
          <a:xfrm>
            <a:off x="457200" y="932688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" y="1051560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12014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969264" y="1069848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603504" y="1389888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Show how task activity, assisted time, and modeled value concentrate across active users.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956816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6072" y="2075688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" y="21442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969264" y="2093976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603504" y="241401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Read tier population, task share, modeled value share, and user detail together.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2980944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" y="3099816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" y="31683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69264" y="3118104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DIAGNOSE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603504" y="3438144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Does concentration reflect champions, dependency, uneven enablement, or a filtered population effect?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005072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6072" y="4123944"/>
            <a:ext cx="310896" cy="310896"/>
          </a:xfrm>
          <a:prstGeom prst="ellipse">
            <a:avLst/>
          </a:prstGeom>
          <a:solidFill>
            <a:srgbClr val="7551A8"/>
          </a:solidFill>
          <a:ln w="12700">
            <a:solidFill>
              <a:srgbClr val="7551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" y="419252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69264" y="4142232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7551A8"/>
                </a:solidFill>
              </a:rPr>
              <a:t>INTERPRET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603504" y="4462272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Percentile tiers require at least 20 active users and are relative to the current filter context.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EAF8F7"/>
          </a:solidFill>
          <a:ln w="13970">
            <a:solidFill>
              <a:srgbClr val="00827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85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0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783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Pair the tier with role, department, work category, and seasonality before targeting enablement.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6172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FFF4EC"/>
          </a:solidFill>
          <a:ln w="13970">
            <a:solidFill>
              <a:srgbClr val="A8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00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A80000"/>
          </a:solidFill>
          <a:ln w="12700">
            <a:solidFill>
              <a:srgbClr val="A8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45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GUARDRAIL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98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Tiers are not employee-performance ratings and must not be used for personnel action.</a:t>
            </a:r>
            <a:endParaRPr lang="en-US" sz="920" dirty="0"/>
          </a:p>
        </p:txBody>
      </p:sp>
      <p:sp>
        <p:nvSpPr>
          <p:cNvPr id="35" name="Text 32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Right-Sizing &amp; Reclaim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38160" y="393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of 12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663440" y="886968"/>
            <a:ext cx="7086600" cy="4023360"/>
          </a:xfrm>
          <a:prstGeom prst="roundRect">
            <a:avLst>
              <a:gd name="adj" fmla="val 1136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5" name="Image 0" descr="C:\Users\luzlorenz\OneDrive - Microsoft\Documents\Microsoft Scout\cowork-value-intelligence\images\report-pages\09-right-sizing-recla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32688"/>
            <a:ext cx="699516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4928616"/>
            <a:ext cx="6995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Current default viewport | scrollable user table continues beyond the visible rows</a:t>
            </a:r>
            <a:endParaRPr lang="en-US" sz="720" dirty="0"/>
          </a:p>
        </p:txBody>
      </p:sp>
      <p:sp>
        <p:nvSpPr>
          <p:cNvPr id="7" name="Shape 4"/>
          <p:cNvSpPr/>
          <p:nvPr/>
        </p:nvSpPr>
        <p:spPr>
          <a:xfrm>
            <a:off x="457200" y="932688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" y="1051560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12014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969264" y="1069848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603504" y="1389888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Identify near-limit, over-limit, inactive, and under-utilizing usage patterns for review.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956816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6072" y="2075688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" y="21442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969264" y="2093976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603504" y="241401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Read observed credits, allowance, activity recency, and budget segment within the same period.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2980944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" y="3099816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" y="31683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69264" y="3118104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DIAGNOSE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603504" y="3438144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Is the pattern explained by role, leave, seasonality, contract terms, or stale data?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005072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6072" y="4123944"/>
            <a:ext cx="310896" cy="310896"/>
          </a:xfrm>
          <a:prstGeom prst="ellipse">
            <a:avLst/>
          </a:prstGeom>
          <a:solidFill>
            <a:srgbClr val="7551A8"/>
          </a:solidFill>
          <a:ln w="12700">
            <a:solidFill>
              <a:srgbClr val="7551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" y="419252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69264" y="4142232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7551A8"/>
                </a:solidFill>
              </a:rPr>
              <a:t>INTERPRET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603504" y="4462272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A budget or recency flag is a review prompt, not an automatic license decision.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EAF8F7"/>
          </a:solidFill>
          <a:ln w="13970">
            <a:solidFill>
              <a:srgbClr val="00827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85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0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783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Confirm manager context and customer terms before changing access, allowance, or assignment.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6172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FFF4EC"/>
          </a:solidFill>
          <a:ln w="13970">
            <a:solidFill>
              <a:srgbClr val="A8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00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A80000"/>
          </a:solidFill>
          <a:ln w="12700">
            <a:solidFill>
              <a:srgbClr val="A8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45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GUARDRAIL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98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Reclaim dollars remain unavailable without source-backed assignment and customer seat-price data.</a:t>
            </a:r>
            <a:endParaRPr lang="en-US" sz="920" dirty="0"/>
          </a:p>
        </p:txBody>
      </p:sp>
      <p:sp>
        <p:nvSpPr>
          <p:cNvPr id="35" name="Text 32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Skills &amp; Allocated Consumption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38160" y="393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of 12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663440" y="886968"/>
            <a:ext cx="7086600" cy="4023360"/>
          </a:xfrm>
          <a:prstGeom prst="roundRect">
            <a:avLst>
              <a:gd name="adj" fmla="val 1136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5" name="Image 0" descr="C:\Users\luzlorenz\OneDrive - Microsoft\Documents\Microsoft Scout\cowork-value-intelligence\images\report-pages\10-skills-allocated-consump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32688"/>
            <a:ext cx="699516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4928616"/>
            <a:ext cx="6995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Current Power BI capture | deterministic fabricated sample data</a:t>
            </a:r>
            <a:endParaRPr lang="en-US" sz="720" dirty="0"/>
          </a:p>
        </p:txBody>
      </p:sp>
      <p:sp>
        <p:nvSpPr>
          <p:cNvPr id="7" name="Shape 4"/>
          <p:cNvSpPr/>
          <p:nvPr/>
        </p:nvSpPr>
        <p:spPr>
          <a:xfrm>
            <a:off x="457200" y="932688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" y="1051560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12014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969264" y="1069848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603504" y="1389888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Connect observed skill volume with a directional allocation of credits, cost, and classified value.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956816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6072" y="2075688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" y="21442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969264" y="2093976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603504" y="241401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Read invocation count and friendly skill label first, then mapping coverage and allocated outputs.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2980944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" y="3099816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" y="31683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69264" y="3118104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DIAGNOSE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603504" y="3438144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Which skills are observed most, and how much of their activity has a defensible value classification?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005072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6072" y="4123944"/>
            <a:ext cx="310896" cy="310896"/>
          </a:xfrm>
          <a:prstGeom prst="ellipse">
            <a:avLst/>
          </a:prstGeom>
          <a:solidFill>
            <a:srgbClr val="7551A8"/>
          </a:solidFill>
          <a:ln w="12700">
            <a:solidFill>
              <a:srgbClr val="7551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" y="419252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69264" y="4142232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7551A8"/>
                </a:solidFill>
              </a:rPr>
              <a:t>INTERPRET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603504" y="4462272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Friendly labels improve readability; they do not change mapping, category, or value treatment.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EAF8F7"/>
          </a:solidFill>
          <a:ln w="13970">
            <a:solidFill>
              <a:srgbClr val="00827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85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0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783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Use observed skill volume for enablement; use allocated consumption only as directional planning context.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6172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FFF4EC"/>
          </a:solidFill>
          <a:ln w="13970">
            <a:solidFill>
              <a:srgbClr val="A8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00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A80000"/>
          </a:solidFill>
          <a:ln w="12700">
            <a:solidFill>
              <a:srgbClr val="A8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45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GUARDRAIL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98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The source does not meter credits or value per skill, so repeated parent values must not be summed.</a:t>
            </a:r>
            <a:endParaRPr lang="en-US" sz="920" dirty="0"/>
          </a:p>
        </p:txBody>
      </p:sp>
      <p:sp>
        <p:nvSpPr>
          <p:cNvPr id="35" name="Text 32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&amp; LLM Breakdown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38160" y="393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of 12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663440" y="886968"/>
            <a:ext cx="7086600" cy="4023360"/>
          </a:xfrm>
          <a:prstGeom prst="roundRect">
            <a:avLst>
              <a:gd name="adj" fmla="val 1136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5" name="Image 0" descr="C:\Users\luzlorenz\OneDrive - Microsoft\Documents\Microsoft Scout\cowork-value-intelligence\images\report-pages\11-model-llm-break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32688"/>
            <a:ext cx="699516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4928616"/>
            <a:ext cx="6995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Current Power BI capture | deterministic fabricated sample data</a:t>
            </a:r>
            <a:endParaRPr lang="en-US" sz="720" dirty="0"/>
          </a:p>
        </p:txBody>
      </p:sp>
      <p:sp>
        <p:nvSpPr>
          <p:cNvPr id="7" name="Shape 4"/>
          <p:cNvSpPr/>
          <p:nvPr/>
        </p:nvSpPr>
        <p:spPr>
          <a:xfrm>
            <a:off x="457200" y="932688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" y="1051560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12014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969264" y="1069848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603504" y="1389888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Show source-attributed model activity and the directional allocation that follows from task share.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956816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6072" y="2075688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" y="21442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969264" y="2093976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603504" y="241401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Confirm model names are present in Purview before reading allocated cost, credits, or efficiency.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2980944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" y="3099816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" y="31683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69264" y="3118104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DIAGNOSE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603504" y="3438144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Is the model label source-backed, and is there model-specific metering for the decision?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005072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6072" y="4123944"/>
            <a:ext cx="310896" cy="310896"/>
          </a:xfrm>
          <a:prstGeom prst="ellipse">
            <a:avLst/>
          </a:prstGeom>
          <a:solidFill>
            <a:srgbClr val="7551A8"/>
          </a:solidFill>
          <a:ln w="12700">
            <a:solidFill>
              <a:srgbClr val="7551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" y="419252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69264" y="4142232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7551A8"/>
                </a:solidFill>
              </a:rPr>
              <a:t>INTERPRET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603504" y="4462272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Allocated cost and efficiency cannot prove that one model is cheaper or more productive.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EAF8F7"/>
          </a:solidFill>
          <a:ln w="13970">
            <a:solidFill>
              <a:srgbClr val="00827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85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0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783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Obtain source-backed per-model metering before making model selection or cost recommendations.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6172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FFF4EC"/>
          </a:solidFill>
          <a:ln w="13970">
            <a:solidFill>
              <a:srgbClr val="A8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00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A80000"/>
          </a:solidFill>
          <a:ln w="12700">
            <a:solidFill>
              <a:srgbClr val="A8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45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GUARDRAIL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98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If model data is unavailable, stop; do not infer or fabricate a model label.</a:t>
            </a:r>
            <a:endParaRPr lang="en-US" sz="920" dirty="0"/>
          </a:p>
        </p:txBody>
      </p:sp>
      <p:sp>
        <p:nvSpPr>
          <p:cNvPr id="35" name="Text 32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Glossary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38160" y="393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of 12 report pages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663440" y="886968"/>
            <a:ext cx="7086600" cy="4023360"/>
          </a:xfrm>
          <a:prstGeom prst="roundRect">
            <a:avLst>
              <a:gd name="adj" fmla="val 1136"/>
            </a:avLst>
          </a:prstGeom>
          <a:solidFill>
            <a:srgbClr val="F0EBF7"/>
          </a:solidFill>
          <a:ln w="13970">
            <a:solidFill>
              <a:srgbClr val="7551A8"/>
            </a:solidFill>
            <a:prstDash val="solid"/>
          </a:ln>
        </p:spPr>
      </p:sp>
      <p:pic>
        <p:nvPicPr>
          <p:cNvPr id="5" name="Image 0" descr="C:\Users\luzlorenz\OneDrive - Microsoft\Documents\Microsoft Scout\cowork-value-intelligence\images\report-pages\12-gloss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32688"/>
            <a:ext cx="699516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4928616"/>
            <a:ext cx="6995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i="1" dirty="0">
                <a:solidFill>
                  <a:srgbClr val="625B6A"/>
                </a:solidFill>
              </a:rPr>
              <a:t>Current Power BI capture | deterministic fabricated sample data</a:t>
            </a:r>
            <a:endParaRPr lang="en-US" sz="720" dirty="0"/>
          </a:p>
        </p:txBody>
      </p:sp>
      <p:sp>
        <p:nvSpPr>
          <p:cNvPr id="7" name="Shape 4"/>
          <p:cNvSpPr/>
          <p:nvPr/>
        </p:nvSpPr>
        <p:spPr>
          <a:xfrm>
            <a:off x="457200" y="932688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" y="1051560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12014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969264" y="1069848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PURPOSE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603504" y="1389888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Define each metric and disclose its evidence label, source dependency, calculation, and limitation.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956816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6072" y="2075688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" y="21442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969264" y="2093976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READ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603504" y="2414016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Use the definition and data status together; unavailable does not mean zero.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2980944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6072" y="3099816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" y="31683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69264" y="3118104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DIAGNOSE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603504" y="3438144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Can a reviewer reproduce the metric from the listed source and calculation?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005072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6072" y="4123944"/>
            <a:ext cx="310896" cy="310896"/>
          </a:xfrm>
          <a:prstGeom prst="ellipse">
            <a:avLst/>
          </a:prstGeom>
          <a:solidFill>
            <a:srgbClr val="7551A8"/>
          </a:solidFill>
          <a:ln w="12700">
            <a:solidFill>
              <a:srgbClr val="7551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" y="419252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69264" y="4142232"/>
            <a:ext cx="33192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7551A8"/>
                </a:solidFill>
              </a:rPr>
              <a:t>INTERPRET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603504" y="4462272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Modeled and allocated results must travel with their assumptions and allocation basis.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EAF8F7"/>
          </a:solidFill>
          <a:ln w="13970">
            <a:solidFill>
              <a:srgbClr val="00827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85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0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783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Copy the definition, period, filters, evidence label, and selected inputs into the decision record.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6172200" y="5184648"/>
            <a:ext cx="5532120" cy="859536"/>
          </a:xfrm>
          <a:prstGeom prst="roundRect">
            <a:avLst>
              <a:gd name="adj" fmla="val 8511"/>
            </a:avLst>
          </a:prstGeom>
          <a:solidFill>
            <a:srgbClr val="FFF4EC"/>
          </a:solidFill>
          <a:ln w="13970">
            <a:solidFill>
              <a:srgbClr val="A8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00216" y="531266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A80000"/>
          </a:solidFill>
          <a:ln w="12700">
            <a:solidFill>
              <a:srgbClr val="A8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45936" y="5381244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GUARDRAIL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498080" y="5321808"/>
            <a:ext cx="4050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Do not rename a metric in a way that overstates what the source evidence proves.</a:t>
            </a:r>
            <a:endParaRPr lang="en-US" sz="920" dirty="0"/>
          </a:p>
        </p:txBody>
      </p:sp>
      <p:sp>
        <p:nvSpPr>
          <p:cNvPr id="35" name="Text 32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B17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60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CDEA"/>
                </a:solidFill>
              </a:rPr>
              <a:t>SECTION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481328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 and operating controls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58368" y="2578608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EE9F7"/>
                </a:solidFill>
              </a:rPr>
              <a:t>Understand the formulas, billing modes, allocation rules, source checks, and documentation required behind the visuals.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8368" y="4892040"/>
            <a:ext cx="10835640" cy="868680"/>
          </a:xfrm>
          <a:prstGeom prst="roundRect">
            <a:avLst>
              <a:gd name="adj" fmla="val 8421"/>
            </a:avLst>
          </a:prstGeom>
          <a:solidFill>
            <a:srgbClr val="4B2D83"/>
          </a:solidFill>
          <a:ln w="12700">
            <a:solidFill>
              <a:srgbClr val="7551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18464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Observed signals. Transparent assumptions. Defensible decisions.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 | Modeled value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38160" y="393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task volume multiplied by explicit, customer-reviewable assumptions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58368" y="1078992"/>
            <a:ext cx="10881360" cy="1024128"/>
          </a:xfrm>
          <a:prstGeom prst="roundRect">
            <a:avLst>
              <a:gd name="adj" fmla="val 7143"/>
            </a:avLst>
          </a:prstGeom>
          <a:solidFill>
            <a:srgbClr val="F7F5FA"/>
          </a:solidFill>
          <a:ln w="15240">
            <a:solidFill>
              <a:srgbClr val="7551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5331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1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Assisted hours = sum(category task threads x selected category minutes saved) / 60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82496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17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Estimated value = assisted hours x loaded labor rate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2514600"/>
            <a:ext cx="5138928" cy="1207008"/>
          </a:xfrm>
          <a:prstGeom prst="roundRect">
            <a:avLst>
              <a:gd name="adj" fmla="val 6061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633472"/>
            <a:ext cx="310896" cy="310896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0205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70432" y="2651760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07C10"/>
                </a:solidFill>
              </a:rPr>
              <a:t>OBSERVED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804672" y="297180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Task threads and category assignment from approved source evidence.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90488" y="2514600"/>
            <a:ext cx="5138928" cy="1207008"/>
          </a:xfrm>
          <a:prstGeom prst="roundRect">
            <a:avLst>
              <a:gd name="adj" fmla="val 6061"/>
            </a:avLst>
          </a:prstGeom>
          <a:solidFill>
            <a:srgbClr val="EEF5FC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633472"/>
            <a:ext cx="310896" cy="31089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70205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702552" y="2651760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78D4"/>
                </a:solidFill>
              </a:rPr>
              <a:t>SELECTED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6336792" y="297180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Low, mid, or high minutes-saved benchmark for each category.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" y="4023360"/>
            <a:ext cx="5138928" cy="1207008"/>
          </a:xfrm>
          <a:prstGeom prst="roundRect">
            <a:avLst>
              <a:gd name="adj" fmla="val 6061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142232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2108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70432" y="4160520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CUSTOMER INPUT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04672" y="448056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Loaded labor rate and optional reinvestment, quality, or skill adjustments.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90488" y="4023360"/>
            <a:ext cx="5138928" cy="1207008"/>
          </a:xfrm>
          <a:prstGeom prst="roundRect">
            <a:avLst>
              <a:gd name="adj" fmla="val 6061"/>
            </a:avLst>
          </a:prstGeom>
          <a:solidFill>
            <a:srgbClr val="EEF5FC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4142232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42108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702552" y="4160520"/>
            <a:ext cx="4480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OUTPUT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6336792" y="448056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A scenario estimate whose value changes when the assumptions change.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8368" y="557784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EAF8F7"/>
          </a:solidFill>
          <a:ln w="13970">
            <a:solidFill>
              <a:srgbClr val="00827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" y="5705856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" y="5774436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LANGUAGE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984248" y="5715000"/>
            <a:ext cx="9400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Say 'under the selected assumptions' and carry the estimate basis, labor rate, period, and filters with the result.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 | Billing and allocation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38160" y="393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planning modes keep value, cost, and consumption concepts separate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21792" y="914400"/>
            <a:ext cx="6675120" cy="621792"/>
          </a:xfrm>
          <a:prstGeom prst="roundRect">
            <a:avLst>
              <a:gd name="adj" fmla="val 7353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078992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14757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Credit-Priced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487168" y="1078992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033"/>
                </a:solidFill>
              </a:rPr>
              <a:t>Observed credits x customer credit price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" y="1737360"/>
            <a:ext cx="6675120" cy="621792"/>
          </a:xfrm>
          <a:prstGeom prst="roundRect">
            <a:avLst>
              <a:gd name="adj" fmla="val 7353"/>
            </a:avLst>
          </a:prstGeom>
          <a:solidFill>
            <a:srgbClr val="EEF5FC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901952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97053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License-Included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487168" y="1901952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033"/>
                </a:solidFill>
              </a:rPr>
              <a:t>Customer seat price or contracted cost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" y="2560320"/>
            <a:ext cx="6675120" cy="621792"/>
          </a:xfrm>
          <a:prstGeom prst="roundRect">
            <a:avLst>
              <a:gd name="adj" fmla="val 7353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724912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7934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Prepaid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87168" y="2724912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033"/>
                </a:solidFill>
              </a:rPr>
              <a:t>Committed amount within the selected period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" y="3383280"/>
            <a:ext cx="6675120" cy="621792"/>
          </a:xfrm>
          <a:prstGeom prst="roundRect">
            <a:avLst>
              <a:gd name="adj" fmla="val 7353"/>
            </a:avLst>
          </a:prstGeom>
          <a:solidFill>
            <a:srgbClr val="EEF5FC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547872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61645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Hybrid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87168" y="3547872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033"/>
                </a:solidFill>
              </a:rPr>
              <a:t>Base commitment plus qualified overage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" y="4206240"/>
            <a:ext cx="6675120" cy="621792"/>
          </a:xfrm>
          <a:prstGeom prst="roundRect">
            <a:avLst>
              <a:gd name="adj" fmla="val 7353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370832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7551A8"/>
          </a:solidFill>
          <a:ln w="12700">
            <a:solidFill>
              <a:srgbClr val="7551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443941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Monthly Committed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87168" y="4370832"/>
            <a:ext cx="4480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033"/>
                </a:solidFill>
              </a:rPr>
              <a:t>Monthly commitment compared with observed use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35240" y="914400"/>
            <a:ext cx="3886200" cy="1298448"/>
          </a:xfrm>
          <a:prstGeom prst="roundRect">
            <a:avLst>
              <a:gd name="adj" fmla="val 5634"/>
            </a:avLst>
          </a:prstGeom>
          <a:solidFill>
            <a:srgbClr val="EAF8F7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54112" y="1033272"/>
            <a:ext cx="310896" cy="310896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54112" y="110185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147304" y="1051560"/>
            <a:ext cx="32278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07C10"/>
                </a:solidFill>
              </a:rPr>
              <a:t>OBSERVED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7781544" y="1371600"/>
            <a:ext cx="3593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Credits used, active users, activity recency, task threads, and source attributes when available.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35240" y="2423160"/>
            <a:ext cx="3886200" cy="1298448"/>
          </a:xfrm>
          <a:prstGeom prst="roundRect">
            <a:avLst>
              <a:gd name="adj" fmla="val 5634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54112" y="2542032"/>
            <a:ext cx="310896" cy="31089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54112" y="261061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147304" y="2560320"/>
            <a:ext cx="32278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4B2D83"/>
                </a:solidFill>
              </a:rPr>
              <a:t>MODELED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7781544" y="2880360"/>
            <a:ext cx="3593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Assisted hours, estimated value, adjusted value, return, and forecast outputs.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635240" y="3931920"/>
            <a:ext cx="3886200" cy="1298448"/>
          </a:xfrm>
          <a:prstGeom prst="roundRect">
            <a:avLst>
              <a:gd name="adj" fmla="val 5634"/>
            </a:avLst>
          </a:prstGeom>
          <a:solidFill>
            <a:srgbClr val="FFF4EC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54112" y="4050792"/>
            <a:ext cx="310896" cy="31089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54112" y="411937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147304" y="4069080"/>
            <a:ext cx="32278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D83B01"/>
                </a:solidFill>
              </a:rPr>
              <a:t>ALLOCATED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7781544" y="4389120"/>
            <a:ext cx="3593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02033"/>
                </a:solidFill>
              </a:rPr>
              <a:t>Department, skill, or model cost distributed by a documented rule without direct source metering.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1792" y="5257800"/>
            <a:ext cx="6675120" cy="896112"/>
          </a:xfrm>
          <a:prstGeom prst="roundRect">
            <a:avLst>
              <a:gd name="adj" fmla="val 8163"/>
            </a:avLst>
          </a:prstGeom>
          <a:solidFill>
            <a:srgbClr val="FFF4EC"/>
          </a:solidFill>
          <a:ln w="13970">
            <a:solidFill>
              <a:srgbClr val="A8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" y="5385816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A80000"/>
          </a:solidFill>
          <a:ln w="12700">
            <a:solidFill>
              <a:srgbClr val="A8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5528" y="5454396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BOUNDARY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947672" y="5394960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Allocation supports planning and showback. It is not an invoice, ledger charge, or source-measured chargeback unless the source explicitly supplies that evidence.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pipeline | Inputs and validation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38160" y="393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and SharePoint editions use the same logical contract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58368" y="896112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024128"/>
            <a:ext cx="493776" cy="493776"/>
          </a:xfrm>
          <a:prstGeom prst="ellipse">
            <a:avLst/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152144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72768" y="10607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2D83"/>
                </a:solidFill>
              </a:rPr>
              <a:t>Collect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07792" y="1051560"/>
            <a:ext cx="8183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2033"/>
                </a:solidFill>
              </a:rPr>
              <a:t>Export approved Purview activity plus any optional usage, organization, and consumption files.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58368" y="1856232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EEF5FC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1984248"/>
            <a:ext cx="493776" cy="49377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112264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2020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</a:rPr>
              <a:t>Place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07792" y="2011680"/>
            <a:ext cx="8183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2033"/>
                </a:solidFill>
              </a:rPr>
              <a:t>Use one protected local folder or the configured SharePoint folder path.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58368" y="2816352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" y="2944368"/>
            <a:ext cx="493776" cy="493776"/>
          </a:xfrm>
          <a:prstGeom prst="ellipse">
            <a:avLst/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3072384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72768" y="29809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272"/>
                </a:solidFill>
              </a:rPr>
              <a:t>Refresh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07792" y="2971800"/>
            <a:ext cx="8183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2033"/>
                </a:solidFill>
              </a:rPr>
              <a:t>Confirm source discovery, schema compatibility, and freshness before reading KPIs.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58368" y="3776472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EEF5FC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" y="3904488"/>
            <a:ext cx="493776" cy="493776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4032504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72768" y="39410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3B01"/>
                </a:solidFill>
              </a:rPr>
              <a:t>Reconcile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07792" y="3931920"/>
            <a:ext cx="8183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2033"/>
                </a:solidFill>
              </a:rPr>
              <a:t>Compare task, user, credit, and identity totals against the source exports.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58368" y="4736592"/>
            <a:ext cx="10881360" cy="749808"/>
          </a:xfrm>
          <a:prstGeom prst="roundRect">
            <a:avLst>
              <a:gd name="adj" fmla="val 6098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9536" y="4864608"/>
            <a:ext cx="493776" cy="493776"/>
          </a:xfrm>
          <a:prstGeom prst="ellipse">
            <a:avLst/>
          </a:prstGeom>
          <a:solidFill>
            <a:srgbClr val="7551A8"/>
          </a:solidFill>
          <a:ln w="12700">
            <a:solidFill>
              <a:srgbClr val="7551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4992624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72768" y="4901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551A8"/>
                </a:solidFill>
              </a:rPr>
              <a:t>Document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07792" y="4892040"/>
            <a:ext cx="8183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2033"/>
                </a:solidFill>
              </a:rPr>
              <a:t>Record period, filters, assumptions, unavailable dependencies, and the output owner.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658368" y="553212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4EC"/>
          </a:solidFill>
          <a:ln w="13970">
            <a:solidFill>
              <a:srgbClr val="A8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6384" y="5660136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A80000"/>
          </a:solidFill>
          <a:ln w="12700">
            <a:solidFill>
              <a:srgbClr val="A8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" y="5728716"/>
            <a:ext cx="932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SECURITY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984248" y="5669280"/>
            <a:ext cx="9400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02033"/>
                </a:solidFill>
              </a:rPr>
              <a:t>Keep customer exports in approved protected storage. Review every screenshot, video, PDF, and export for identifiers before sharing.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Testing | Fabricated sample data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7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Defensible decision language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38160" y="393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with the evidence, the boundary, and an owned next step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58368" y="100584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280160"/>
            <a:ext cx="1261872" cy="292608"/>
          </a:xfrm>
          <a:prstGeom prst="roundRect">
            <a:avLst>
              <a:gd name="adj" fmla="val 25000"/>
            </a:avLst>
          </a:prstGeom>
          <a:solidFill>
            <a:srgbClr val="4B2D83"/>
          </a:solidFill>
          <a:ln w="12700">
            <a:solidFill>
              <a:srgbClr val="4B2D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48740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VALUE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423160" y="119786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202033"/>
                </a:solidFill>
              </a:rPr>
              <a:t>"Under the selected category-minute and labor-rate assumptions, the observed task volume models to..."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214884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EEF5FC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23160"/>
            <a:ext cx="1261872" cy="292608"/>
          </a:xfrm>
          <a:prstGeom prst="roundRect">
            <a:avLst>
              <a:gd name="adj" fmla="val 25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91740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COST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423160" y="234086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202033"/>
                </a:solidFill>
              </a:rPr>
              <a:t>"Using the selected billing mode and customer-approved price inputs, effective platform cost is..."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329184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F7F5FA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566160"/>
            <a:ext cx="1261872" cy="292608"/>
          </a:xfrm>
          <a:prstGeom prst="roundRect">
            <a:avLst>
              <a:gd name="adj" fmla="val 25000"/>
            </a:avLst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634740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ALLOCATION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23160" y="348386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202033"/>
                </a:solidFill>
              </a:rPr>
              <a:t>"The directional allocation suggests concentration in..., but source metering is not available at this grain."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443484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EEF5FC"/>
          </a:solidFill>
          <a:ln w="12700">
            <a:solidFill>
              <a:srgbClr val="D8C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709160"/>
            <a:ext cx="1261872" cy="292608"/>
          </a:xfrm>
          <a:prstGeom prst="roundRect">
            <a:avLst>
              <a:gd name="adj" fmla="val 25000"/>
            </a:avLst>
          </a:prstGeom>
          <a:solidFill>
            <a:srgbClr val="008272"/>
          </a:solidFill>
          <a:ln w="12700">
            <a:solidFill>
              <a:srgbClr val="0082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777740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RIGHT-SIZING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23160" y="462686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202033"/>
                </a:solidFill>
              </a:rPr>
              <a:t>"The current period flags this account for review; role, leave, seasonality, and contract terms still require validation."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5559552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2B174D"/>
          </a:solidFill>
          <a:ln w="12700">
            <a:solidFill>
              <a:srgbClr val="2B17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578815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Decision record minimum: metric definition | evidence label | period | filters | assumptions | owner | next validation step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65471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llorenz28/cowork-value-intelligence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6492240" y="65471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25B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Testing | Decision support, not billing or personnel evidence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32004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25B6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Cowork Value Intelligence - Interpretation Guide</dc:title>
  <dc:subject>Cowork Value Intelligence interpretation guide</dc:subject>
  <dc:creator>Microsoft Scout</dc:creator>
  <cp:lastModifiedBy>Microsoft Scout</cp:lastModifiedBy>
  <cp:revision>1</cp:revision>
  <dcterms:created xsi:type="dcterms:W3CDTF">2026-09-21T13:59:40Z</dcterms:created>
  <dcterms:modified xsi:type="dcterms:W3CDTF">2026-09-21T13:59:40Z</dcterms:modified>
</cp:coreProperties>
</file>